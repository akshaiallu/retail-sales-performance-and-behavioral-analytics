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9"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82" d="100"/>
          <a:sy n="82" d="100"/>
        </p:scale>
        <p:origin x="2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71153D54-C1CF-4B6F-B6C9-E250796068B2}" type="datetimeFigureOut">
              <a:rPr lang="en-IN" smtClean="0"/>
              <a:t>12-01-2026</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28BB553-2F52-429D-9148-B8579FA667B0}" type="slidenum">
              <a:rPr lang="en-IN" smtClean="0"/>
              <a:t>‹#›</a:t>
            </a:fld>
            <a:endParaRPr lang="en-IN"/>
          </a:p>
        </p:txBody>
      </p:sp>
    </p:spTree>
    <p:extLst>
      <p:ext uri="{BB962C8B-B14F-4D97-AF65-F5344CB8AC3E}">
        <p14:creationId xmlns:p14="http://schemas.microsoft.com/office/powerpoint/2010/main" val="3702428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153D54-C1CF-4B6F-B6C9-E250796068B2}" type="datetimeFigureOut">
              <a:rPr lang="en-IN" smtClean="0"/>
              <a:t>12-01-2026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674199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71153D54-C1CF-4B6F-B6C9-E250796068B2}" type="datetimeFigureOut">
              <a:rPr lang="en-IN" smtClean="0"/>
              <a:t>12-01-2026</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28BB553-2F52-429D-9148-B8579FA667B0}" type="slidenum">
              <a:rPr lang="en-IN" smtClean="0"/>
              <a:t>‹#›</a:t>
            </a:fld>
            <a:endParaRPr lang="en-IN"/>
          </a:p>
        </p:txBody>
      </p:sp>
    </p:spTree>
    <p:extLst>
      <p:ext uri="{BB962C8B-B14F-4D97-AF65-F5344CB8AC3E}">
        <p14:creationId xmlns:p14="http://schemas.microsoft.com/office/powerpoint/2010/main" val="1697787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153D54-C1CF-4B6F-B6C9-E250796068B2}" type="datetimeFigureOut">
              <a:rPr lang="en-IN" smtClean="0"/>
              <a:t>12-01-2026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1968605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153D54-C1CF-4B6F-B6C9-E250796068B2}" type="datetimeFigureOut">
              <a:rPr lang="en-IN" smtClean="0"/>
              <a:t>12-01-2026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426430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153D54-C1CF-4B6F-B6C9-E250796068B2}" type="datetimeFigureOut">
              <a:rPr lang="en-IN" smtClean="0"/>
              <a:t>12-01-2026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2425283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153D54-C1CF-4B6F-B6C9-E250796068B2}" type="datetimeFigureOut">
              <a:rPr lang="en-IN" smtClean="0"/>
              <a:t>12-01-2026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197460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1153D54-C1CF-4B6F-B6C9-E250796068B2}" type="datetimeFigureOut">
              <a:rPr lang="en-IN" smtClean="0"/>
              <a:t>12-01-2026</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28BB553-2F52-429D-9148-B8579FA667B0}" type="slidenum">
              <a:rPr lang="en-IN" smtClean="0"/>
              <a:t>‹#›</a:t>
            </a:fld>
            <a:endParaRPr lang="en-IN"/>
          </a:p>
        </p:txBody>
      </p:sp>
    </p:spTree>
    <p:extLst>
      <p:ext uri="{BB962C8B-B14F-4D97-AF65-F5344CB8AC3E}">
        <p14:creationId xmlns:p14="http://schemas.microsoft.com/office/powerpoint/2010/main" val="1739620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153D54-C1CF-4B6F-B6C9-E250796068B2}" type="datetimeFigureOut">
              <a:rPr lang="en-IN" smtClean="0"/>
              <a:t>12-01-2026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1333866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153D54-C1CF-4B6F-B6C9-E250796068B2}" type="datetimeFigureOut">
              <a:rPr lang="en-IN" smtClean="0"/>
              <a:t>12-01-2026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2198445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71153D54-C1CF-4B6F-B6C9-E250796068B2}" type="datetimeFigureOut">
              <a:rPr lang="en-IN" smtClean="0"/>
              <a:t>12-01-2026</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28BB553-2F52-429D-9148-B8579FA667B0}" type="slidenum">
              <a:rPr lang="en-IN" smtClean="0"/>
              <a:t>‹#›</a:t>
            </a:fld>
            <a:endParaRPr lang="en-IN"/>
          </a:p>
        </p:txBody>
      </p:sp>
    </p:spTree>
    <p:extLst>
      <p:ext uri="{BB962C8B-B14F-4D97-AF65-F5344CB8AC3E}">
        <p14:creationId xmlns:p14="http://schemas.microsoft.com/office/powerpoint/2010/main" val="2173970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71153D54-C1CF-4B6F-B6C9-E250796068B2}" type="datetimeFigureOut">
              <a:rPr lang="en-IN" smtClean="0"/>
              <a:t>12-01-2026</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28BB553-2F52-429D-9148-B8579FA667B0}"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8783852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6006F-4B96-DB56-6D04-0042E589851E}"/>
              </a:ext>
            </a:extLst>
          </p:cNvPr>
          <p:cNvSpPr>
            <a:spLocks noGrp="1"/>
          </p:cNvSpPr>
          <p:nvPr>
            <p:ph type="ctrTitle"/>
          </p:nvPr>
        </p:nvSpPr>
        <p:spPr>
          <a:xfrm>
            <a:off x="1724829" y="1071716"/>
            <a:ext cx="9041494" cy="1946787"/>
          </a:xfrm>
        </p:spPr>
        <p:txBody>
          <a:bodyPr>
            <a:normAutofit/>
          </a:bodyPr>
          <a:lstStyle/>
          <a:p>
            <a:r>
              <a:rPr lang="en-US" sz="4000" b="1" dirty="0">
                <a:solidFill>
                  <a:schemeClr val="tx1"/>
                </a:solidFill>
                <a:latin typeface="Times New Roman" panose="02020603050405020304" pitchFamily="18" charset="0"/>
                <a:cs typeface="Times New Roman" panose="02020603050405020304" pitchFamily="18" charset="0"/>
              </a:rPr>
              <a:t>End-to-End Retail Performance </a:t>
            </a:r>
            <a:br>
              <a:rPr lang="en-US" sz="4000" b="1" dirty="0">
                <a:solidFill>
                  <a:schemeClr val="tx1"/>
                </a:solidFill>
                <a:latin typeface="Times New Roman" panose="02020603050405020304" pitchFamily="18" charset="0"/>
                <a:cs typeface="Times New Roman" panose="02020603050405020304" pitchFamily="18" charset="0"/>
              </a:rPr>
            </a:br>
            <a:r>
              <a:rPr lang="en-US" sz="4000" b="1" dirty="0">
                <a:solidFill>
                  <a:schemeClr val="tx1"/>
                </a:solidFill>
                <a:latin typeface="Times New Roman" panose="02020603050405020304" pitchFamily="18" charset="0"/>
                <a:cs typeface="Times New Roman" panose="02020603050405020304" pitchFamily="18" charset="0"/>
              </a:rPr>
              <a:t>and Behavioral Analytics </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7734B42-2B00-BCEC-CA09-1F00DEBB99C9}"/>
              </a:ext>
            </a:extLst>
          </p:cNvPr>
          <p:cNvSpPr>
            <a:spLocks noGrp="1"/>
          </p:cNvSpPr>
          <p:nvPr>
            <p:ph type="subTitle" idx="1"/>
          </p:nvPr>
        </p:nvSpPr>
        <p:spPr>
          <a:xfrm>
            <a:off x="5697495" y="4531170"/>
            <a:ext cx="8637072" cy="977621"/>
          </a:xfrm>
        </p:spPr>
        <p:txBody>
          <a:bodyPr>
            <a:normAutofit/>
          </a:bodyPr>
          <a:lstStyle/>
          <a:p>
            <a:r>
              <a:rPr lang="en-US" sz="2800" b="1" dirty="0">
                <a:solidFill>
                  <a:schemeClr val="bg1"/>
                </a:solidFill>
                <a:latin typeface="Times New Roman" panose="02020603050405020304" pitchFamily="18" charset="0"/>
                <a:cs typeface="Times New Roman" panose="02020603050405020304" pitchFamily="18" charset="0"/>
              </a:rPr>
              <a:t>Presented by </a:t>
            </a:r>
            <a:br>
              <a:rPr lang="en-US" sz="2800" b="1" dirty="0">
                <a:solidFill>
                  <a:schemeClr val="bg1"/>
                </a:solidFill>
                <a:latin typeface="Times New Roman" panose="02020603050405020304" pitchFamily="18" charset="0"/>
                <a:cs typeface="Times New Roman" panose="02020603050405020304" pitchFamily="18" charset="0"/>
              </a:rPr>
            </a:br>
            <a:r>
              <a:rPr lang="en-US" sz="2800" b="1" dirty="0">
                <a:solidFill>
                  <a:schemeClr val="bg1"/>
                </a:solidFill>
                <a:latin typeface="Times New Roman" panose="02020603050405020304" pitchFamily="18" charset="0"/>
                <a:cs typeface="Times New Roman" panose="02020603050405020304" pitchFamily="18" charset="0"/>
              </a:rPr>
              <a:t>A.AKSHAI</a:t>
            </a:r>
            <a:endParaRPr lang="en-IN"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4180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09248D-4C5D-0C7E-C9FD-9111238EF2AC}"/>
              </a:ext>
            </a:extLst>
          </p:cNvPr>
          <p:cNvSpPr txBox="1"/>
          <p:nvPr/>
        </p:nvSpPr>
        <p:spPr>
          <a:xfrm>
            <a:off x="3401861" y="892930"/>
            <a:ext cx="4660490" cy="707886"/>
          </a:xfrm>
          <a:prstGeom prst="rect">
            <a:avLst/>
          </a:prstGeom>
          <a:noFill/>
        </p:spPr>
        <p:txBody>
          <a:bodyPr wrap="square" rtlCol="0">
            <a:spAutoFit/>
          </a:bodyPr>
          <a:lstStyle/>
          <a:p>
            <a:pPr algn="ctr"/>
            <a:r>
              <a:rPr lang="en-US" sz="4000"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OVERVIEW</a:t>
            </a:r>
            <a:endParaRPr lang="en-IN" sz="4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6FB79D2-68BF-CDFC-1F35-4355AB113E90}"/>
              </a:ext>
            </a:extLst>
          </p:cNvPr>
          <p:cNvSpPr txBox="1"/>
          <p:nvPr/>
        </p:nvSpPr>
        <p:spPr>
          <a:xfrm>
            <a:off x="453286" y="1841341"/>
            <a:ext cx="10943304" cy="4262705"/>
          </a:xfrm>
          <a:prstGeom prst="rect">
            <a:avLst/>
          </a:prstGeom>
          <a:noFill/>
        </p:spPr>
        <p:txBody>
          <a:bodyPr wrap="square" rtlCol="0">
            <a:spAutoFit/>
          </a:bodyPr>
          <a:lstStyle/>
          <a:p>
            <a:pPr algn="just">
              <a:lnSpc>
                <a:spcPct val="150000"/>
              </a:lnSpc>
              <a:spcAft>
                <a:spcPts val="600"/>
              </a:spcAft>
            </a:pPr>
            <a:r>
              <a:rPr lang="en-US" dirty="0">
                <a:latin typeface="Times New Roman" panose="02020603050405020304" pitchFamily="18" charset="0"/>
                <a:cs typeface="Times New Roman" panose="02020603050405020304" pitchFamily="18" charset="0"/>
              </a:rPr>
              <a:t>Over the last few years, RetailNova has experienced rapid growth in online orders, especially during the pandemic. However, recent quarters have seen increased product returns, customer churn, and declining profitability in certain regions and product categories. To maintain its market position and plan for the next growth phase, RetailNova’s leadership wants to become more data-driven in its decision-making. </a:t>
            </a:r>
          </a:p>
          <a:p>
            <a:pPr algn="just">
              <a:spcAft>
                <a:spcPts val="600"/>
              </a:spcAft>
            </a:pPr>
            <a:endParaRPr lang="en-US" dirty="0">
              <a:latin typeface="Times New Roman" panose="02020603050405020304" pitchFamily="18" charset="0"/>
              <a:cs typeface="Times New Roman" panose="02020603050405020304" pitchFamily="18" charset="0"/>
            </a:endParaRPr>
          </a:p>
          <a:p>
            <a:pPr algn="just">
              <a:spcAft>
                <a:spcPts val="600"/>
              </a:spcAft>
            </a:pPr>
            <a:r>
              <a:rPr lang="en-US" sz="2000" b="1" dirty="0">
                <a:latin typeface="Times New Roman" panose="02020603050405020304" pitchFamily="18" charset="0"/>
                <a:cs typeface="Times New Roman" panose="02020603050405020304" pitchFamily="18" charset="0"/>
              </a:rPr>
              <a:t>Business Goals:</a:t>
            </a:r>
          </a:p>
          <a:p>
            <a:pPr marL="742950" lvl="1" indent="-285750" algn="just">
              <a:spcAft>
                <a:spcPts val="600"/>
              </a:spcAf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Identify key sales trends and anomalies </a:t>
            </a:r>
          </a:p>
          <a:p>
            <a:pPr marL="742950" lvl="1" indent="-285750" algn="just">
              <a:spcAft>
                <a:spcPts val="600"/>
              </a:spcAf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Understand customer behavior and segmentation </a:t>
            </a:r>
          </a:p>
          <a:p>
            <a:pPr marL="742950" lvl="1" indent="-285750" algn="just">
              <a:spcAft>
                <a:spcPts val="600"/>
              </a:spcAf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Optimize product performance and inventory </a:t>
            </a:r>
          </a:p>
          <a:p>
            <a:pPr marL="742950" lvl="1" indent="-285750" algn="just">
              <a:spcAft>
                <a:spcPts val="600"/>
              </a:spcAf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Improve store and regional profitability </a:t>
            </a:r>
          </a:p>
          <a:p>
            <a:pPr marL="742950" lvl="1" indent="-285750" algn="just">
              <a:spcAft>
                <a:spcPts val="600"/>
              </a:spcAft>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Support decision-making through data visualization and reporting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5768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BC5DCC-A412-6FC6-ACC1-1DEB2B8DCDFB}"/>
              </a:ext>
            </a:extLst>
          </p:cNvPr>
          <p:cNvSpPr txBox="1"/>
          <p:nvPr/>
        </p:nvSpPr>
        <p:spPr>
          <a:xfrm>
            <a:off x="3472392" y="617025"/>
            <a:ext cx="5004619" cy="1323439"/>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METHODOLOGY</a:t>
            </a:r>
          </a:p>
          <a:p>
            <a:pPr algn="ctr"/>
            <a:endParaRPr lang="en-IN" sz="4000" b="1" dirty="0">
              <a:solidFill>
                <a:schemeClr val="accent6">
                  <a:lumMod val="20000"/>
                  <a:lumOff val="8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DF2C8C6-2B78-03DF-39DA-2EC67520EDDF}"/>
              </a:ext>
            </a:extLst>
          </p:cNvPr>
          <p:cNvSpPr txBox="1"/>
          <p:nvPr/>
        </p:nvSpPr>
        <p:spPr>
          <a:xfrm>
            <a:off x="973228" y="1362972"/>
            <a:ext cx="10245541" cy="6124754"/>
          </a:xfrm>
          <a:prstGeom prst="rect">
            <a:avLst/>
          </a:prstGeom>
          <a:noFill/>
        </p:spPr>
        <p:txBody>
          <a:bodyPr wrap="square" rtlCol="0">
            <a:spAutoFit/>
          </a:bodyPr>
          <a:lstStyle/>
          <a:p>
            <a:pPr marL="285750" indent="-285750" algn="just">
              <a:lnSpc>
                <a:spcPct val="200000"/>
              </a:lnSpc>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Data Cleaning &amp; EDA :</a:t>
            </a:r>
          </a:p>
          <a:p>
            <a:pPr algn="just">
              <a:lnSpc>
                <a:spcPct val="200000"/>
              </a:lnSpc>
            </a:pP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Cleaning the raw csv files, adding new columns, changing the datatypes  and run the      	basic EDA using python.</a:t>
            </a:r>
          </a:p>
          <a:p>
            <a:pPr marL="285750" indent="-285750" algn="just">
              <a:lnSpc>
                <a:spcPct val="200000"/>
              </a:lnSpc>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SQL Analysis :</a:t>
            </a:r>
          </a:p>
          <a:p>
            <a:pPr algn="just">
              <a:lnSpc>
                <a:spcPct val="200000"/>
              </a:lnSpc>
            </a:pP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After cleaning the csv files, create a Database, import the cleaned data and solve different  	business questions.</a:t>
            </a:r>
          </a:p>
          <a:p>
            <a:pPr marL="285750" indent="-285750" algn="just">
              <a:lnSpc>
                <a:spcPct val="200000"/>
              </a:lnSpc>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Data Visualization :</a:t>
            </a:r>
          </a:p>
          <a:p>
            <a:pPr algn="just">
              <a:lnSpc>
                <a:spcPct val="200000"/>
              </a:lnSpc>
            </a:pP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Creating some interactive dashboard using Power BI through the cleaned datasets.</a:t>
            </a:r>
            <a:endParaRPr lang="en-US" b="1" dirty="0">
              <a:latin typeface="Times New Roman" panose="02020603050405020304" pitchFamily="18" charset="0"/>
              <a:cs typeface="Times New Roman" panose="02020603050405020304" pitchFamily="18" charset="0"/>
            </a:endParaRPr>
          </a:p>
          <a:p>
            <a:pPr>
              <a:lnSpc>
                <a:spcPct val="200000"/>
              </a:lnSpc>
            </a:pPr>
            <a:r>
              <a:rPr lang="en-US" sz="20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6803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4438B4-7625-4D0B-599D-8636E9DB2FA2}"/>
              </a:ext>
            </a:extLst>
          </p:cNvPr>
          <p:cNvPicPr>
            <a:picLocks noChangeAspect="1"/>
          </p:cNvPicPr>
          <p:nvPr/>
        </p:nvPicPr>
        <p:blipFill>
          <a:blip r:embed="rId2"/>
          <a:stretch>
            <a:fillRect/>
          </a:stretch>
        </p:blipFill>
        <p:spPr>
          <a:xfrm>
            <a:off x="540538" y="712921"/>
            <a:ext cx="11110923" cy="5730737"/>
          </a:xfrm>
          <a:prstGeom prst="rect">
            <a:avLst/>
          </a:prstGeom>
        </p:spPr>
      </p:pic>
    </p:spTree>
    <p:extLst>
      <p:ext uri="{BB962C8B-B14F-4D97-AF65-F5344CB8AC3E}">
        <p14:creationId xmlns:p14="http://schemas.microsoft.com/office/powerpoint/2010/main" val="2972478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422A6C-6C03-5CA5-3667-4EF1769721BA}"/>
              </a:ext>
            </a:extLst>
          </p:cNvPr>
          <p:cNvPicPr>
            <a:picLocks noChangeAspect="1"/>
          </p:cNvPicPr>
          <p:nvPr/>
        </p:nvPicPr>
        <p:blipFill>
          <a:blip r:embed="rId2"/>
          <a:stretch>
            <a:fillRect/>
          </a:stretch>
        </p:blipFill>
        <p:spPr>
          <a:xfrm>
            <a:off x="2680421" y="1223842"/>
            <a:ext cx="6066046" cy="4130398"/>
          </a:xfrm>
          <a:prstGeom prst="rect">
            <a:avLst/>
          </a:prstGeom>
        </p:spPr>
      </p:pic>
    </p:spTree>
    <p:extLst>
      <p:ext uri="{BB962C8B-B14F-4D97-AF65-F5344CB8AC3E}">
        <p14:creationId xmlns:p14="http://schemas.microsoft.com/office/powerpoint/2010/main" val="1656688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3517BA-4089-5076-B552-05262130F4D1}"/>
              </a:ext>
            </a:extLst>
          </p:cNvPr>
          <p:cNvPicPr>
            <a:picLocks noChangeAspect="1"/>
          </p:cNvPicPr>
          <p:nvPr/>
        </p:nvPicPr>
        <p:blipFill>
          <a:blip r:embed="rId2"/>
          <a:stretch>
            <a:fillRect/>
          </a:stretch>
        </p:blipFill>
        <p:spPr>
          <a:xfrm>
            <a:off x="1957873" y="998375"/>
            <a:ext cx="8276253" cy="5529313"/>
          </a:xfrm>
          <a:prstGeom prst="rect">
            <a:avLst/>
          </a:prstGeom>
        </p:spPr>
      </p:pic>
    </p:spTree>
    <p:extLst>
      <p:ext uri="{BB962C8B-B14F-4D97-AF65-F5344CB8AC3E}">
        <p14:creationId xmlns:p14="http://schemas.microsoft.com/office/powerpoint/2010/main" val="1877936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4D5F7E-5925-5E53-A01A-A3C59219DD9B}"/>
              </a:ext>
            </a:extLst>
          </p:cNvPr>
          <p:cNvPicPr>
            <a:picLocks noChangeAspect="1"/>
          </p:cNvPicPr>
          <p:nvPr/>
        </p:nvPicPr>
        <p:blipFill>
          <a:blip r:embed="rId2"/>
          <a:stretch>
            <a:fillRect/>
          </a:stretch>
        </p:blipFill>
        <p:spPr>
          <a:xfrm>
            <a:off x="1922107" y="866305"/>
            <a:ext cx="7781730" cy="5125389"/>
          </a:xfrm>
          <a:prstGeom prst="rect">
            <a:avLst/>
          </a:prstGeom>
        </p:spPr>
      </p:pic>
    </p:spTree>
    <p:extLst>
      <p:ext uri="{BB962C8B-B14F-4D97-AF65-F5344CB8AC3E}">
        <p14:creationId xmlns:p14="http://schemas.microsoft.com/office/powerpoint/2010/main" val="839223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DEE944B-56BF-E6E5-69FF-E949CCFD5A01}"/>
              </a:ext>
            </a:extLst>
          </p:cNvPr>
          <p:cNvSpPr txBox="1"/>
          <p:nvPr/>
        </p:nvSpPr>
        <p:spPr>
          <a:xfrm>
            <a:off x="6381101" y="1221066"/>
            <a:ext cx="5527040" cy="1288879"/>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This Chart Shows: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In-store sales dominate at 289K, more than double the 127K generated from online sales.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CD5332E-A51D-098E-6833-3F0D92FB12BD}"/>
              </a:ext>
            </a:extLst>
          </p:cNvPr>
          <p:cNvSpPr txBox="1"/>
          <p:nvPr/>
        </p:nvSpPr>
        <p:spPr>
          <a:xfrm>
            <a:off x="6381101" y="3627380"/>
            <a:ext cx="5383937" cy="2542363"/>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This Chart indicates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Customer numbers are highest in the 50+ age group and after that 35-49 age group has more sales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Younger (Under 25) age groups make up the smallest share of customers.</a:t>
            </a: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964327D-2B2D-F6F0-FB32-5C0B3EAF1F1B}"/>
              </a:ext>
            </a:extLst>
          </p:cNvPr>
          <p:cNvPicPr>
            <a:picLocks noChangeAspect="1"/>
          </p:cNvPicPr>
          <p:nvPr/>
        </p:nvPicPr>
        <p:blipFill>
          <a:blip r:embed="rId2"/>
          <a:stretch>
            <a:fillRect/>
          </a:stretch>
        </p:blipFill>
        <p:spPr>
          <a:xfrm>
            <a:off x="1166328" y="745154"/>
            <a:ext cx="4618652" cy="2575249"/>
          </a:xfrm>
          <a:prstGeom prst="rect">
            <a:avLst/>
          </a:prstGeom>
        </p:spPr>
      </p:pic>
      <p:pic>
        <p:nvPicPr>
          <p:cNvPr id="8" name="Picture 7">
            <a:extLst>
              <a:ext uri="{FF2B5EF4-FFF2-40B4-BE49-F238E27FC236}">
                <a16:creationId xmlns:a16="http://schemas.microsoft.com/office/drawing/2014/main" id="{898A21C6-C7C0-75B2-2C86-EA3E19916179}"/>
              </a:ext>
            </a:extLst>
          </p:cNvPr>
          <p:cNvPicPr>
            <a:picLocks noChangeAspect="1"/>
          </p:cNvPicPr>
          <p:nvPr/>
        </p:nvPicPr>
        <p:blipFill>
          <a:blip r:embed="rId3"/>
          <a:stretch>
            <a:fillRect/>
          </a:stretch>
        </p:blipFill>
        <p:spPr>
          <a:xfrm>
            <a:off x="1063715" y="3727579"/>
            <a:ext cx="4823878" cy="2385267"/>
          </a:xfrm>
          <a:prstGeom prst="rect">
            <a:avLst/>
          </a:prstGeom>
        </p:spPr>
      </p:pic>
    </p:spTree>
    <p:extLst>
      <p:ext uri="{BB962C8B-B14F-4D97-AF65-F5344CB8AC3E}">
        <p14:creationId xmlns:p14="http://schemas.microsoft.com/office/powerpoint/2010/main" val="696412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76397B-5C65-DA8D-0250-33BFCAE6741F}"/>
              </a:ext>
            </a:extLst>
          </p:cNvPr>
          <p:cNvSpPr txBox="1"/>
          <p:nvPr/>
        </p:nvSpPr>
        <p:spPr>
          <a:xfrm>
            <a:off x="6004768" y="1697135"/>
            <a:ext cx="5628640" cy="280679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Customer distribution is almost equal across all regions, with each contributing around 25% of total customers.</a:t>
            </a:r>
          </a:p>
          <a:p>
            <a:pPr marL="28575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West leads slightly with 204 customers, while the South is the lowest at 196, showing a well-balanced market.</a:t>
            </a:r>
            <a:endParaRPr lang="en-IN" sz="2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4C0F1DF-BE0E-B543-39A0-5838571A7B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2940" y="1697135"/>
            <a:ext cx="4264090" cy="2806793"/>
          </a:xfrm>
          <a:prstGeom prst="rect">
            <a:avLst/>
          </a:prstGeom>
        </p:spPr>
      </p:pic>
    </p:spTree>
    <p:extLst>
      <p:ext uri="{BB962C8B-B14F-4D97-AF65-F5344CB8AC3E}">
        <p14:creationId xmlns:p14="http://schemas.microsoft.com/office/powerpoint/2010/main" val="3873680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5819B9-BBB2-E667-9A18-1545C5B81996}"/>
              </a:ext>
            </a:extLst>
          </p:cNvPr>
          <p:cNvSpPr txBox="1"/>
          <p:nvPr/>
        </p:nvSpPr>
        <p:spPr>
          <a:xfrm>
            <a:off x="2629367" y="642566"/>
            <a:ext cx="6522720" cy="707886"/>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CHALLENGES FACED </a:t>
            </a:r>
            <a:endParaRPr lang="en-IN" sz="4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072B8AC-CDFB-D1FA-C1C5-92E69E8A9041}"/>
              </a:ext>
            </a:extLst>
          </p:cNvPr>
          <p:cNvPicPr>
            <a:picLocks noChangeAspect="1"/>
          </p:cNvPicPr>
          <p:nvPr/>
        </p:nvPicPr>
        <p:blipFill>
          <a:blip r:embed="rId2"/>
          <a:stretch>
            <a:fillRect/>
          </a:stretch>
        </p:blipFill>
        <p:spPr>
          <a:xfrm>
            <a:off x="347773" y="1582374"/>
            <a:ext cx="5231934" cy="4743781"/>
          </a:xfrm>
          <a:prstGeom prst="rect">
            <a:avLst/>
          </a:prstGeom>
        </p:spPr>
      </p:pic>
      <p:sp>
        <p:nvSpPr>
          <p:cNvPr id="3" name="TextBox 2">
            <a:extLst>
              <a:ext uri="{FF2B5EF4-FFF2-40B4-BE49-F238E27FC236}">
                <a16:creationId xmlns:a16="http://schemas.microsoft.com/office/drawing/2014/main" id="{65543BA5-9557-42C3-87BF-97AA5F432472}"/>
              </a:ext>
            </a:extLst>
          </p:cNvPr>
          <p:cNvSpPr txBox="1"/>
          <p:nvPr/>
        </p:nvSpPr>
        <p:spPr>
          <a:xfrm>
            <a:off x="5719666" y="1582374"/>
            <a:ext cx="6124561" cy="4524315"/>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During the process of importing the cleaned CSV files into SQL Server and establishing relational constraints, repeated errors were encountered while creating the foreign key on the </a:t>
            </a:r>
            <a:r>
              <a:rPr lang="en-IN" dirty="0" err="1">
                <a:latin typeface="Times New Roman" panose="02020603050405020304" pitchFamily="18" charset="0"/>
                <a:cs typeface="Times New Roman" panose="02020603050405020304" pitchFamily="18" charset="0"/>
              </a:rPr>
              <a:t>store_id</a:t>
            </a:r>
            <a:r>
              <a:rPr lang="en-IN" dirty="0">
                <a:latin typeface="Times New Roman" panose="02020603050405020304" pitchFamily="18" charset="0"/>
                <a:cs typeface="Times New Roman" panose="02020603050405020304" pitchFamily="18" charset="0"/>
              </a:rPr>
              <a:t> column in the </a:t>
            </a:r>
            <a:r>
              <a:rPr lang="en-IN" dirty="0" err="1">
                <a:latin typeface="Times New Roman" panose="02020603050405020304" pitchFamily="18" charset="0"/>
                <a:cs typeface="Times New Roman" panose="02020603050405020304" pitchFamily="18" charset="0"/>
              </a:rPr>
              <a:t>sales_cleaned</a:t>
            </a:r>
            <a:r>
              <a:rPr lang="en-IN" dirty="0">
                <a:latin typeface="Times New Roman" panose="02020603050405020304" pitchFamily="18" charset="0"/>
                <a:cs typeface="Times New Roman" panose="02020603050405020304" pitchFamily="18" charset="0"/>
              </a:rPr>
              <a:t> table.</a:t>
            </a:r>
          </a:p>
          <a:p>
            <a:pPr algn="just">
              <a:lnSpc>
                <a:spcPct val="150000"/>
              </a:lnSpc>
            </a:pPr>
            <a:r>
              <a:rPr lang="en-IN" dirty="0">
                <a:latin typeface="Times New Roman" panose="02020603050405020304" pitchFamily="18" charset="0"/>
                <a:cs typeface="Times New Roman" panose="02020603050405020304" pitchFamily="18" charset="0"/>
              </a:rPr>
              <a:t>Because of this issue:</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Foreign key creation failed multiple times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Relationships between the </a:t>
            </a:r>
            <a:r>
              <a:rPr lang="en-IN" dirty="0" err="1">
                <a:latin typeface="Times New Roman" panose="02020603050405020304" pitchFamily="18" charset="0"/>
                <a:cs typeface="Times New Roman" panose="02020603050405020304" pitchFamily="18" charset="0"/>
              </a:rPr>
              <a:t>sales_cleaned</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stores_cleaned</a:t>
            </a:r>
            <a:r>
              <a:rPr lang="en-IN" dirty="0">
                <a:latin typeface="Times New Roman" panose="02020603050405020304" pitchFamily="18" charset="0"/>
                <a:cs typeface="Times New Roman" panose="02020603050405020304" pitchFamily="18" charset="0"/>
              </a:rPr>
              <a:t> tables could not be established</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SQL Server raised constraint conflict errors, preventing schema finalization</a:t>
            </a:r>
          </a:p>
          <a:p>
            <a:endParaRPr lang="en-IN" dirty="0"/>
          </a:p>
        </p:txBody>
      </p:sp>
    </p:spTree>
    <p:extLst>
      <p:ext uri="{BB962C8B-B14F-4D97-AF65-F5344CB8AC3E}">
        <p14:creationId xmlns:p14="http://schemas.microsoft.com/office/powerpoint/2010/main" val="2249630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ECB4EB-FF85-BC88-D242-F38A39E96BC9}"/>
              </a:ext>
            </a:extLst>
          </p:cNvPr>
          <p:cNvSpPr txBox="1"/>
          <p:nvPr/>
        </p:nvSpPr>
        <p:spPr>
          <a:xfrm>
            <a:off x="382556" y="990118"/>
            <a:ext cx="11280709" cy="4428392"/>
          </a:xfrm>
          <a:prstGeom prst="rect">
            <a:avLst/>
          </a:prstGeom>
          <a:noFill/>
        </p:spPr>
        <p:txBody>
          <a:bodyPr wrap="square">
            <a:spAutoFit/>
          </a:bodyPr>
          <a:lstStyle/>
          <a:p>
            <a:pPr marL="91440" indent="-6350" algn="just">
              <a:lnSpc>
                <a:spcPct val="150000"/>
              </a:lnSpc>
              <a:spcAft>
                <a:spcPts val="1170"/>
              </a:spcAft>
              <a:buNone/>
            </a:pPr>
            <a:r>
              <a:rPr lang="en-IN" sz="2400" b="1" kern="100" dirty="0">
                <a:solidFill>
                  <a:srgbClr val="000000"/>
                </a:solidFill>
                <a:effectLst/>
                <a:latin typeface="Times New Roman" panose="02020603050405020304" pitchFamily="18" charset="0"/>
                <a:ea typeface="Calibri" panose="020F0502020204030204" pitchFamily="34" charset="0"/>
              </a:rPr>
              <a:t>Root Cause</a:t>
            </a:r>
            <a:endParaRPr lang="en-IN" sz="1800" kern="100" dirty="0">
              <a:solidFill>
                <a:srgbClr val="000000"/>
              </a:solidFill>
              <a:effectLst/>
              <a:latin typeface="Calibri" panose="020F0502020204030204" pitchFamily="34" charset="0"/>
              <a:ea typeface="Calibri" panose="020F0502020204030204" pitchFamily="34" charset="0"/>
            </a:endParaRPr>
          </a:p>
          <a:p>
            <a:pPr marL="91440" indent="-6350" algn="just">
              <a:lnSpc>
                <a:spcPct val="150000"/>
              </a:lnSpc>
              <a:spcAft>
                <a:spcPts val="1170"/>
              </a:spcAft>
              <a:buNone/>
            </a:pPr>
            <a:r>
              <a:rPr lang="en-IN" sz="1800" kern="100" dirty="0">
                <a:solidFill>
                  <a:srgbClr val="000000"/>
                </a:solidFill>
                <a:effectLst/>
                <a:latin typeface="Times New Roman" panose="02020603050405020304" pitchFamily="18" charset="0"/>
                <a:ea typeface="Calibri" panose="020F0502020204030204" pitchFamily="34" charset="0"/>
              </a:rPr>
              <a:t>Although the business logic allows </a:t>
            </a:r>
            <a:r>
              <a:rPr lang="en-IN" sz="1800" kern="100" dirty="0" err="1">
                <a:solidFill>
                  <a:srgbClr val="000000"/>
                </a:solidFill>
                <a:effectLst/>
                <a:latin typeface="Times New Roman" panose="02020603050405020304" pitchFamily="18" charset="0"/>
                <a:ea typeface="Calibri" panose="020F0502020204030204" pitchFamily="34" charset="0"/>
              </a:rPr>
              <a:t>store_id</a:t>
            </a:r>
            <a:r>
              <a:rPr lang="en-IN" sz="1800" kern="100" dirty="0">
                <a:solidFill>
                  <a:srgbClr val="000000"/>
                </a:solidFill>
                <a:effectLst/>
                <a:latin typeface="Times New Roman" panose="02020603050405020304" pitchFamily="18" charset="0"/>
                <a:ea typeface="Calibri" panose="020F0502020204030204" pitchFamily="34" charset="0"/>
              </a:rPr>
              <a:t> to be nullable for online sales, missing values had been replaced with a placeholder ('-') during the data cleaning phase in Python.</a:t>
            </a:r>
            <a:endParaRPr lang="en-IN" sz="1800" kern="100" dirty="0">
              <a:solidFill>
                <a:srgbClr val="000000"/>
              </a:solidFill>
              <a:effectLst/>
              <a:latin typeface="Calibri" panose="020F0502020204030204" pitchFamily="34" charset="0"/>
              <a:ea typeface="Calibri" panose="020F0502020204030204" pitchFamily="34" charset="0"/>
            </a:endParaRPr>
          </a:p>
          <a:p>
            <a:pPr marL="91440" indent="-6350" algn="just">
              <a:lnSpc>
                <a:spcPct val="150000"/>
              </a:lnSpc>
              <a:spcAft>
                <a:spcPts val="1170"/>
              </a:spcAft>
              <a:buNone/>
            </a:pPr>
            <a:r>
              <a:rPr lang="en-IN" sz="1800" kern="100" dirty="0">
                <a:solidFill>
                  <a:srgbClr val="000000"/>
                </a:solidFill>
                <a:effectLst/>
                <a:latin typeface="Times New Roman" panose="02020603050405020304" pitchFamily="18" charset="0"/>
                <a:ea typeface="Calibri" panose="020F0502020204030204" pitchFamily="34" charset="0"/>
              </a:rPr>
              <a:t>When importing the data into SQL Server:</a:t>
            </a:r>
            <a:endParaRPr lang="en-IN" sz="1800" kern="100" dirty="0">
              <a:solidFill>
                <a:srgbClr val="000000"/>
              </a:solidFill>
              <a:effectLst/>
              <a:latin typeface="Calibri" panose="020F0502020204030204" pitchFamily="34" charset="0"/>
              <a:ea typeface="Calibri" panose="020F0502020204030204" pitchFamily="34" charset="0"/>
            </a:endParaRPr>
          </a:p>
          <a:p>
            <a:pPr marL="342900" lvl="0" indent="-342900" algn="just">
              <a:lnSpc>
                <a:spcPct val="150000"/>
              </a:lnSpc>
              <a:spcAft>
                <a:spcPts val="1170"/>
              </a:spcAft>
              <a:buSzPts val="1000"/>
              <a:buFont typeface="Symbol" panose="05050102010706020507" pitchFamily="18" charset="2"/>
              <a:buChar char=""/>
              <a:tabLst>
                <a:tab pos="457200" algn="l"/>
              </a:tabLst>
            </a:pPr>
            <a:r>
              <a:rPr lang="en-IN" sz="1800" kern="100" dirty="0">
                <a:solidFill>
                  <a:srgbClr val="000000"/>
                </a:solidFill>
                <a:effectLst/>
                <a:latin typeface="Times New Roman" panose="02020603050405020304" pitchFamily="18" charset="0"/>
                <a:ea typeface="Calibri" panose="020F0502020204030204" pitchFamily="34" charset="0"/>
              </a:rPr>
              <a:t>SQL Server treated '-' as a valid string value rather than a missing value</a:t>
            </a:r>
            <a:endParaRPr lang="en-IN" sz="1800" kern="100" dirty="0">
              <a:solidFill>
                <a:srgbClr val="000000"/>
              </a:solidFill>
              <a:effectLst/>
              <a:latin typeface="Calibri" panose="020F0502020204030204" pitchFamily="34" charset="0"/>
              <a:ea typeface="Calibri" panose="020F0502020204030204" pitchFamily="34" charset="0"/>
            </a:endParaRPr>
          </a:p>
          <a:p>
            <a:pPr marL="342900" lvl="0" indent="-342900" algn="just">
              <a:lnSpc>
                <a:spcPct val="150000"/>
              </a:lnSpc>
              <a:spcAft>
                <a:spcPts val="1170"/>
              </a:spcAft>
              <a:buSzPts val="1000"/>
              <a:buFont typeface="Symbol" panose="05050102010706020507" pitchFamily="18" charset="2"/>
              <a:buChar char=""/>
              <a:tabLst>
                <a:tab pos="457200" algn="l"/>
              </a:tabLst>
            </a:pPr>
            <a:r>
              <a:rPr lang="en-IN" sz="1800" kern="100" dirty="0">
                <a:solidFill>
                  <a:srgbClr val="000000"/>
                </a:solidFill>
                <a:effectLst/>
                <a:latin typeface="Times New Roman" panose="02020603050405020304" pitchFamily="18" charset="0"/>
                <a:ea typeface="Calibri" panose="020F0502020204030204" pitchFamily="34" charset="0"/>
              </a:rPr>
              <a:t>These placeholder values did not exist in the </a:t>
            </a:r>
            <a:r>
              <a:rPr lang="en-IN" sz="1800" kern="100" dirty="0" err="1">
                <a:solidFill>
                  <a:srgbClr val="000000"/>
                </a:solidFill>
                <a:effectLst/>
                <a:latin typeface="Times New Roman" panose="02020603050405020304" pitchFamily="18" charset="0"/>
                <a:ea typeface="Calibri" panose="020F0502020204030204" pitchFamily="34" charset="0"/>
              </a:rPr>
              <a:t>stores_cleaned</a:t>
            </a:r>
            <a:r>
              <a:rPr lang="en-IN" sz="1800" kern="100" dirty="0">
                <a:solidFill>
                  <a:srgbClr val="000000"/>
                </a:solidFill>
                <a:effectLst/>
                <a:latin typeface="Times New Roman" panose="02020603050405020304" pitchFamily="18" charset="0"/>
                <a:ea typeface="Calibri" panose="020F0502020204030204" pitchFamily="34" charset="0"/>
              </a:rPr>
              <a:t> table</a:t>
            </a:r>
            <a:endParaRPr lang="en-IN" sz="1800" kern="100" dirty="0">
              <a:solidFill>
                <a:srgbClr val="000000"/>
              </a:solidFill>
              <a:effectLst/>
              <a:latin typeface="Calibri" panose="020F0502020204030204" pitchFamily="34" charset="0"/>
              <a:ea typeface="Calibri" panose="020F0502020204030204" pitchFamily="34" charset="0"/>
            </a:endParaRPr>
          </a:p>
          <a:p>
            <a:pPr marL="342900" lvl="0" indent="-342900" algn="just">
              <a:lnSpc>
                <a:spcPct val="150000"/>
              </a:lnSpc>
              <a:spcAft>
                <a:spcPts val="1170"/>
              </a:spcAft>
              <a:buSzPts val="1000"/>
              <a:buFont typeface="Symbol" panose="05050102010706020507" pitchFamily="18" charset="2"/>
              <a:buChar char=""/>
              <a:tabLst>
                <a:tab pos="457200" algn="l"/>
              </a:tabLst>
            </a:pPr>
            <a:r>
              <a:rPr lang="en-IN" sz="1800" kern="100" dirty="0">
                <a:solidFill>
                  <a:srgbClr val="000000"/>
                </a:solidFill>
                <a:effectLst/>
                <a:latin typeface="Times New Roman" panose="02020603050405020304" pitchFamily="18" charset="0"/>
                <a:ea typeface="Calibri" panose="020F0502020204030204" pitchFamily="34" charset="0"/>
              </a:rPr>
              <a:t>As a result, SQL Server rejected the foreign key constraint due to referential integrity violations</a:t>
            </a:r>
          </a:p>
          <a:p>
            <a:pPr lvl="0" algn="just">
              <a:lnSpc>
                <a:spcPct val="150000"/>
              </a:lnSpc>
              <a:spcAft>
                <a:spcPts val="1170"/>
              </a:spcAft>
              <a:buSzPts val="1000"/>
              <a:tabLst>
                <a:tab pos="457200" algn="l"/>
              </a:tabLst>
            </a:pPr>
            <a:endParaRPr lang="en-IN" kern="100" dirty="0">
              <a:solidFill>
                <a:srgbClr val="000000"/>
              </a:solidFill>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3561876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31836B-4643-5189-442A-B501555F44CD}"/>
              </a:ext>
            </a:extLst>
          </p:cNvPr>
          <p:cNvSpPr txBox="1"/>
          <p:nvPr/>
        </p:nvSpPr>
        <p:spPr>
          <a:xfrm>
            <a:off x="503853" y="1332996"/>
            <a:ext cx="7091265" cy="3360535"/>
          </a:xfrm>
          <a:prstGeom prst="rect">
            <a:avLst/>
          </a:prstGeom>
          <a:noFill/>
        </p:spPr>
        <p:txBody>
          <a:bodyPr wrap="square">
            <a:spAutoFit/>
          </a:bodyPr>
          <a:lstStyle/>
          <a:p>
            <a:pPr marL="228600" indent="-6350" algn="l">
              <a:lnSpc>
                <a:spcPct val="107000"/>
              </a:lnSpc>
              <a:spcAft>
                <a:spcPts val="1170"/>
              </a:spcAft>
              <a:buNone/>
            </a:pPr>
            <a:r>
              <a:rPr lang="en-IN" sz="1800" b="1" kern="100" dirty="0">
                <a:solidFill>
                  <a:srgbClr val="000000"/>
                </a:solidFill>
                <a:effectLst/>
                <a:latin typeface="Times New Roman" panose="02020603050405020304" pitchFamily="18" charset="0"/>
                <a:ea typeface="Calibri" panose="020F0502020204030204" pitchFamily="34" charset="0"/>
              </a:rPr>
              <a:t>Resolution</a:t>
            </a:r>
            <a:endParaRPr lang="en-IN" sz="1800" kern="100" dirty="0">
              <a:solidFill>
                <a:srgbClr val="000000"/>
              </a:solidFill>
              <a:effectLst/>
              <a:latin typeface="Calibri" panose="020F0502020204030204" pitchFamily="34" charset="0"/>
              <a:ea typeface="Calibri" panose="020F0502020204030204" pitchFamily="34" charset="0"/>
            </a:endParaRPr>
          </a:p>
          <a:p>
            <a:pPr marL="228600" indent="-6350" algn="l">
              <a:lnSpc>
                <a:spcPct val="107000"/>
              </a:lnSpc>
              <a:spcAft>
                <a:spcPts val="1170"/>
              </a:spcAft>
              <a:buNone/>
            </a:pPr>
            <a:r>
              <a:rPr lang="en-IN" sz="1800" kern="100" dirty="0">
                <a:solidFill>
                  <a:srgbClr val="000000"/>
                </a:solidFill>
                <a:effectLst/>
                <a:latin typeface="Times New Roman" panose="02020603050405020304" pitchFamily="18" charset="0"/>
                <a:ea typeface="Calibri" panose="020F0502020204030204" pitchFamily="34" charset="0"/>
              </a:rPr>
              <a:t>To resolve the issue:</a:t>
            </a:r>
            <a:endParaRPr lang="en-IN" sz="1800" kern="100" dirty="0">
              <a:solidFill>
                <a:srgbClr val="000000"/>
              </a:solidFill>
              <a:effectLst/>
              <a:latin typeface="Calibri" panose="020F0502020204030204" pitchFamily="34" charset="0"/>
              <a:ea typeface="Calibri" panose="020F0502020204030204" pitchFamily="34" charset="0"/>
            </a:endParaRPr>
          </a:p>
          <a:p>
            <a:pPr marL="342900" lvl="0" indent="-342900" algn="l">
              <a:lnSpc>
                <a:spcPct val="107000"/>
              </a:lnSpc>
              <a:spcAft>
                <a:spcPts val="1170"/>
              </a:spcAft>
              <a:buSzPts val="1000"/>
              <a:buFont typeface="Symbol" panose="05050102010706020507" pitchFamily="18" charset="2"/>
              <a:buChar char=""/>
              <a:tabLst>
                <a:tab pos="457200" algn="l"/>
              </a:tabLst>
            </a:pPr>
            <a:r>
              <a:rPr lang="en-IN" sz="1800" kern="100" dirty="0">
                <a:solidFill>
                  <a:srgbClr val="000000"/>
                </a:solidFill>
                <a:effectLst/>
                <a:latin typeface="Times New Roman" panose="02020603050405020304" pitchFamily="18" charset="0"/>
                <a:ea typeface="Calibri" panose="020F0502020204030204" pitchFamily="34" charset="0"/>
              </a:rPr>
              <a:t>The placeholder values ('-') in the </a:t>
            </a:r>
            <a:r>
              <a:rPr lang="en-IN" sz="1800" kern="100" dirty="0" err="1">
                <a:solidFill>
                  <a:srgbClr val="000000"/>
                </a:solidFill>
                <a:effectLst/>
                <a:latin typeface="Times New Roman" panose="02020603050405020304" pitchFamily="18" charset="0"/>
                <a:ea typeface="Calibri" panose="020F0502020204030204" pitchFamily="34" charset="0"/>
              </a:rPr>
              <a:t>store_id</a:t>
            </a:r>
            <a:r>
              <a:rPr lang="en-IN" sz="1800" kern="100" dirty="0">
                <a:solidFill>
                  <a:srgbClr val="000000"/>
                </a:solidFill>
                <a:effectLst/>
                <a:latin typeface="Times New Roman" panose="02020603050405020304" pitchFamily="18" charset="0"/>
                <a:ea typeface="Calibri" panose="020F0502020204030204" pitchFamily="34" charset="0"/>
              </a:rPr>
              <a:t> column were converted back to NULL directly within SQL Server</a:t>
            </a:r>
            <a:endParaRPr lang="en-IN" sz="1800" kern="100" dirty="0">
              <a:solidFill>
                <a:srgbClr val="000000"/>
              </a:solidFill>
              <a:effectLst/>
              <a:latin typeface="Calibri" panose="020F0502020204030204" pitchFamily="34" charset="0"/>
              <a:ea typeface="Calibri" panose="020F0502020204030204" pitchFamily="34" charset="0"/>
            </a:endParaRPr>
          </a:p>
          <a:p>
            <a:pPr marL="342900" lvl="0" indent="-342900" algn="l">
              <a:lnSpc>
                <a:spcPct val="107000"/>
              </a:lnSpc>
              <a:spcAft>
                <a:spcPts val="1170"/>
              </a:spcAft>
              <a:buSzPts val="1000"/>
              <a:buFont typeface="Symbol" panose="05050102010706020507" pitchFamily="18" charset="2"/>
              <a:buChar char=""/>
              <a:tabLst>
                <a:tab pos="457200" algn="l"/>
              </a:tabLst>
            </a:pPr>
            <a:r>
              <a:rPr lang="en-IN" sz="1800" kern="100" dirty="0">
                <a:solidFill>
                  <a:srgbClr val="000000"/>
                </a:solidFill>
                <a:effectLst/>
                <a:latin typeface="Times New Roman" panose="02020603050405020304" pitchFamily="18" charset="0"/>
                <a:ea typeface="Calibri" panose="020F0502020204030204" pitchFamily="34" charset="0"/>
              </a:rPr>
              <a:t>This aligned the data with the business requirement that online sales do not have an associated store</a:t>
            </a:r>
            <a:endParaRPr lang="en-IN" sz="1800" kern="100" dirty="0">
              <a:solidFill>
                <a:srgbClr val="000000"/>
              </a:solidFill>
              <a:effectLst/>
              <a:latin typeface="Calibri" panose="020F0502020204030204" pitchFamily="34" charset="0"/>
              <a:ea typeface="Calibri" panose="020F0502020204030204" pitchFamily="34" charset="0"/>
            </a:endParaRPr>
          </a:p>
          <a:p>
            <a:pPr marL="342900" lvl="0" indent="-342900" algn="l">
              <a:lnSpc>
                <a:spcPct val="107000"/>
              </a:lnSpc>
              <a:spcAft>
                <a:spcPts val="1170"/>
              </a:spcAft>
              <a:buSzPts val="1000"/>
              <a:buFont typeface="Symbol" panose="05050102010706020507" pitchFamily="18" charset="2"/>
              <a:buChar char=""/>
              <a:tabLst>
                <a:tab pos="457200" algn="l"/>
              </a:tabLst>
            </a:pPr>
            <a:r>
              <a:rPr lang="en-IN" sz="1800" kern="100" dirty="0">
                <a:solidFill>
                  <a:srgbClr val="000000"/>
                </a:solidFill>
                <a:effectLst/>
                <a:latin typeface="Times New Roman" panose="02020603050405020304" pitchFamily="18" charset="0"/>
                <a:ea typeface="Calibri" panose="020F0502020204030204" pitchFamily="34" charset="0"/>
              </a:rPr>
              <a:t>Once the column correctly contained NULL values instead of invalid references, the foreign key constraint was successfully created between </a:t>
            </a:r>
            <a:r>
              <a:rPr lang="en-IN" sz="1800" kern="100" dirty="0" err="1">
                <a:solidFill>
                  <a:srgbClr val="000000"/>
                </a:solidFill>
                <a:effectLst/>
                <a:latin typeface="Times New Roman" panose="02020603050405020304" pitchFamily="18" charset="0"/>
                <a:ea typeface="Calibri" panose="020F0502020204030204" pitchFamily="34" charset="0"/>
              </a:rPr>
              <a:t>sales_cleaned.store_id</a:t>
            </a:r>
            <a:r>
              <a:rPr lang="en-IN" sz="1800" kern="100" dirty="0">
                <a:solidFill>
                  <a:srgbClr val="000000"/>
                </a:solidFill>
                <a:effectLst/>
                <a:latin typeface="Times New Roman" panose="02020603050405020304" pitchFamily="18" charset="0"/>
                <a:ea typeface="Calibri" panose="020F0502020204030204" pitchFamily="34" charset="0"/>
              </a:rPr>
              <a:t> and </a:t>
            </a:r>
            <a:r>
              <a:rPr lang="en-IN" sz="1800" kern="100" dirty="0" err="1">
                <a:solidFill>
                  <a:srgbClr val="000000"/>
                </a:solidFill>
                <a:effectLst/>
                <a:latin typeface="Times New Roman" panose="02020603050405020304" pitchFamily="18" charset="0"/>
                <a:ea typeface="Calibri" panose="020F0502020204030204" pitchFamily="34" charset="0"/>
              </a:rPr>
              <a:t>stores_cleaned.store_id</a:t>
            </a:r>
            <a:endParaRPr lang="en-IN" sz="1800" kern="100" dirty="0">
              <a:solidFill>
                <a:srgbClr val="000000"/>
              </a:solidFill>
              <a:effectLst/>
              <a:latin typeface="Calibri" panose="020F0502020204030204" pitchFamily="34" charset="0"/>
              <a:ea typeface="Calibri" panose="020F0502020204030204" pitchFamily="34" charset="0"/>
            </a:endParaRPr>
          </a:p>
        </p:txBody>
      </p:sp>
      <p:pic>
        <p:nvPicPr>
          <p:cNvPr id="5" name="Picture 4">
            <a:extLst>
              <a:ext uri="{FF2B5EF4-FFF2-40B4-BE49-F238E27FC236}">
                <a16:creationId xmlns:a16="http://schemas.microsoft.com/office/drawing/2014/main" id="{09EC6A8A-9608-8A35-E244-F5E4383EC8D7}"/>
              </a:ext>
            </a:extLst>
          </p:cNvPr>
          <p:cNvPicPr>
            <a:picLocks noChangeAspect="1"/>
          </p:cNvPicPr>
          <p:nvPr/>
        </p:nvPicPr>
        <p:blipFill>
          <a:blip r:embed="rId2"/>
          <a:stretch>
            <a:fillRect/>
          </a:stretch>
        </p:blipFill>
        <p:spPr>
          <a:xfrm>
            <a:off x="8378890" y="2369515"/>
            <a:ext cx="2911151" cy="1287496"/>
          </a:xfrm>
          <a:prstGeom prst="rect">
            <a:avLst/>
          </a:prstGeom>
        </p:spPr>
      </p:pic>
    </p:spTree>
    <p:extLst>
      <p:ext uri="{BB962C8B-B14F-4D97-AF65-F5344CB8AC3E}">
        <p14:creationId xmlns:p14="http://schemas.microsoft.com/office/powerpoint/2010/main" val="2270460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B2D64-1514-8ED9-CCFD-B9956F440B4D}"/>
              </a:ext>
            </a:extLst>
          </p:cNvPr>
          <p:cNvSpPr txBox="1"/>
          <p:nvPr/>
        </p:nvSpPr>
        <p:spPr>
          <a:xfrm>
            <a:off x="3275252" y="905898"/>
            <a:ext cx="5821680" cy="707886"/>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CONCLUSION</a:t>
            </a:r>
            <a:endParaRPr lang="en-IN"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73BEA89-EA5F-7E86-E9EA-0FCAD8CA6411}"/>
              </a:ext>
            </a:extLst>
          </p:cNvPr>
          <p:cNvSpPr txBox="1"/>
          <p:nvPr/>
        </p:nvSpPr>
        <p:spPr>
          <a:xfrm>
            <a:off x="822960" y="2109755"/>
            <a:ext cx="10546080" cy="419961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visualizations made it easier to identify which areas are strong and where improvements can be made.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Overall, the reports provided a meaningful overview of the dataset and supported data-driven decision making in a simple and effective way.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analysis reveals that data-driven decision-making is essential for optimizing sales Trends, customer behavior, product performance and improves store and regional profitability. </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85347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109</TotalTime>
  <Words>598</Words>
  <Application>Microsoft Office PowerPoint</Application>
  <PresentationFormat>Widescreen</PresentationFormat>
  <Paragraphs>48</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Courier New</vt:lpstr>
      <vt:lpstr>Gill Sans MT</vt:lpstr>
      <vt:lpstr>Symbol</vt:lpstr>
      <vt:lpstr>Times New Roman</vt:lpstr>
      <vt:lpstr>Wingdings</vt:lpstr>
      <vt:lpstr>Wingdings 2</vt:lpstr>
      <vt:lpstr>Dividend</vt:lpstr>
      <vt:lpstr>End-to-End Retail Performance  and Behavioral Analytics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Tedlapu Abhinav</dc:creator>
  <cp:lastModifiedBy>Sri Santhan Venkata Akshai Allu</cp:lastModifiedBy>
  <cp:revision>3</cp:revision>
  <dcterms:created xsi:type="dcterms:W3CDTF">2026-01-10T15:36:58Z</dcterms:created>
  <dcterms:modified xsi:type="dcterms:W3CDTF">2026-01-11T19:48:40Z</dcterms:modified>
</cp:coreProperties>
</file>